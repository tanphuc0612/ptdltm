
<file path=[Content_Types].xml><?xml version="1.0" encoding="utf-8"?>
<Types xmlns="http://schemas.openxmlformats.org/package/2006/content-types">
  <Default Extension="jpeg" ContentType="image/jpe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69" r:id="rId16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7" r:id="rId40"/>
    <p:sldId id="298" r:id="rId41"/>
    <p:sldId id="302" r:id="rId42"/>
    <p:sldId id="303" r:id="rId43"/>
    <p:sldId id="304" r:id="rId44"/>
    <p:sldId id="305" r:id="rId45"/>
    <p:sldId id="306" r:id="rId46"/>
    <p:sldId id="307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4" r:id="rId59"/>
    <p:sldId id="325" r:id="rId60"/>
    <p:sldId id="322" r:id="rId61"/>
    <p:sldId id="327" r:id="rId62"/>
    <p:sldId id="328" r:id="rId63"/>
    <p:sldId id="329" r:id="rId64"/>
    <p:sldId id="330" r:id="rId65"/>
    <p:sldId id="331" r:id="rId66"/>
    <p:sldId id="332" r:id="rId67"/>
    <p:sldId id="333" r:id="rId68"/>
    <p:sldId id="334" r:id="rId69"/>
    <p:sldId id="335" r:id="rId70"/>
    <p:sldId id="336" r:id="rId71"/>
    <p:sldId id="337" r:id="rId72"/>
    <p:sldId id="338" r:id="rId73"/>
    <p:sldId id="339" r:id="rId74"/>
    <p:sldId id="340" r:id="rId75"/>
    <p:sldId id="341" r:id="rId76"/>
    <p:sldId id="342" r:id="rId77"/>
    <p:sldId id="343" r:id="rId78"/>
    <p:sldId id="344" r:id="rId79"/>
    <p:sldId id="345" r:id="rId80"/>
    <p:sldId id="346" r:id="rId81"/>
    <p:sldId id="347" r:id="rId82"/>
    <p:sldId id="348" r:id="rId83"/>
    <p:sldId id="349" r:id="rId84"/>
    <p:sldId id="350" r:id="rId85"/>
    <p:sldId id="351" r:id="rId86"/>
    <p:sldId id="352" r:id="rId87"/>
    <p:sldId id="353" r:id="rId88"/>
    <p:sldId id="354" r:id="rId89"/>
    <p:sldId id="356" r:id="rId90"/>
    <p:sldId id="357" r:id="rId91"/>
    <p:sldId id="358" r:id="rId92"/>
    <p:sldId id="359" r:id="rId93"/>
    <p:sldId id="360" r:id="rId94"/>
    <p:sldId id="361" r:id="rId95"/>
    <p:sldId id="362" r:id="rId96"/>
    <p:sldId id="363" r:id="rId97"/>
    <p:sldId id="364" r:id="rId98"/>
    <p:sldId id="355" r:id="rId99"/>
    <p:sldId id="365" r:id="rId10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05F2C04-C923-438B-8C0F-E0CD2BADF298}">
      <wppc:fontMiss xmlns:wppc="http://www.wps.cn/officeDocument/PresentationCustomData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ƯƠNG BỘI SƯƠNG" initials="LB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87" d="100"/>
          <a:sy n="87" d="100"/>
        </p:scale>
        <p:origin x="3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4" Type="http://schemas.openxmlformats.org/officeDocument/2006/relationships/commentAuthors" Target="commentAuthors.xml"/><Relationship Id="rId103" Type="http://schemas.openxmlformats.org/officeDocument/2006/relationships/tableStyles" Target="tableStyles.xml"/><Relationship Id="rId102" Type="http://schemas.openxmlformats.org/officeDocument/2006/relationships/viewProps" Target="viewProps.xml"/><Relationship Id="rId101" Type="http://schemas.openxmlformats.org/officeDocument/2006/relationships/presProps" Target="presProps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9F02F-192D-4E6F-BAC5-679769FF485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BD5AC-F0CF-46B5-9266-A2F49C57BEC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Spark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main </a:t>
            </a:r>
            <a:r>
              <a:rPr lang="en-US" dirty="0" err="1"/>
              <a:t>của</a:t>
            </a:r>
            <a:r>
              <a:rPr lang="en-US" dirty="0"/>
              <a:t> ng</a:t>
            </a:r>
            <a:r>
              <a:rPr lang="vi-VN" dirty="0"/>
              <a:t>ư</a:t>
            </a:r>
            <a:r>
              <a:rPr lang="en-US" dirty="0" err="1"/>
              <a:t>ời</a:t>
            </a:r>
            <a:r>
              <a:rPr lang="en-US" dirty="0"/>
              <a:t> dung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node worker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</a:t>
            </a:r>
            <a:r>
              <a:rPr lang="vi-VN" dirty="0"/>
              <a:t>ư</a:t>
            </a:r>
            <a:r>
              <a:rPr lang="en-US" dirty="0"/>
              <a:t>c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song </a:t>
            </a:r>
            <a:r>
              <a:rPr lang="en-US" dirty="0" err="1"/>
              <a:t>song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cluster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BD5AC-F0CF-46B5-9266-A2F49C57BEC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BD5AC-F0CF-46B5-9266-A2F49C57BEC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25A26B-17A9-43E7-BA2A-E459D376541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25A26B-17A9-43E7-BA2A-E459D376541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88EA021-899F-45A3-B1EA-A0273E8BDD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CBCA-8F97-4706-BCA5-FF8B7D089ADC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A021-899F-45A3-B1EA-A0273E8BDD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CBCA-8F97-4706-BCA5-FF8B7D089AD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A021-899F-45A3-B1EA-A0273E8BDD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CBCA-8F97-4706-BCA5-FF8B7D089ADC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A021-899F-45A3-B1EA-A0273E8BDD9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CBCA-8F97-4706-BCA5-FF8B7D089AD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A021-899F-45A3-B1EA-A0273E8BDD9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CBCA-8F97-4706-BCA5-FF8B7D089AD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A021-899F-45A3-B1EA-A0273E8BDD9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CBCA-8F97-4706-BCA5-FF8B7D089AD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A021-899F-45A3-B1EA-A0273E8BDD9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CBCA-8F97-4706-BCA5-FF8B7D089AD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A021-899F-45A3-B1EA-A0273E8BDD9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CBCA-8F97-4706-BCA5-FF8B7D089AD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A021-899F-45A3-B1EA-A0273E8BDD9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CBCA-8F97-4706-BCA5-FF8B7D089ADC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A021-899F-45A3-B1EA-A0273E8BDD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CBCA-8F97-4706-BCA5-FF8B7D089AD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A021-899F-45A3-B1EA-A0273E8BDD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FCBCA-8F97-4706-BCA5-FF8B7D089ADC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088EA021-899F-45A3-B1EA-A0273E8BDD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59DFCBCA-8F97-4706-BCA5-FF8B7D089ADC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spark.apache.org/downloads.html" TargetMode="Externa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hyperlink" Target="https://www.oracle.com/java/technologies/javase-downloads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6.png"/><Relationship Id="rId1" Type="http://schemas.openxmlformats.org/officeDocument/2006/relationships/image" Target="../media/image55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1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6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7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1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2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3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4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5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6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0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1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2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3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6848475"/>
            <a:ext cx="7772400" cy="20828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flipV="1">
            <a:off x="8610600" y="6423025"/>
            <a:ext cx="3200400" cy="304165"/>
          </a:xfrm>
        </p:spPr>
        <p:txBody>
          <a:bodyPr>
            <a:normAutofit fontScale="60000"/>
          </a:bodyPr>
          <a:lstStyle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464945" y="29210"/>
            <a:ext cx="93967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Đại Học Quốc Gia TPHCM 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Khoa Học Tự Nhiên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Khoa CNTT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Môn: Phân Tích Dữ Liệu Thông Minh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066415" y="1811655"/>
            <a:ext cx="616394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Báo Cáo Đồ Án Môn Học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Tài: Giới thiệu cách cài đặt và hướng dẫn sử dụng Apache Spark cho xử lý dữ liệu.</a:t>
            </a:r>
            <a:endParaRPr lang="en-US" sz="200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61060" y="4814570"/>
            <a:ext cx="475869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Nhóm Thực Hiện: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	Lê Quang Quí      1712710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Võ Thế Sơn           1712734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	Lương Bội Sương 1712735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365625" y="3817620"/>
            <a:ext cx="3459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GVHD: TS. Nguyễn Tiến Huy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850"/>
            <a:ext cx="2143125" cy="18116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Apache Spark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1"/>
          <a:stretch>
            <a:fillRect/>
          </a:stretch>
        </p:blipFill>
        <p:spPr>
          <a:xfrm>
            <a:off x="657299" y="1690688"/>
            <a:ext cx="9720072" cy="47309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27683" y="1690688"/>
            <a:ext cx="51683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Yu Mincho" panose="02020400000000000000" pitchFamily="18" charset="-128"/>
                <a:hlinkClick r:id="rId2"/>
              </a:rPr>
              <a:t>https://spark.apache.org/downloads.html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Apache Spark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1"/>
          <a:srcRect r="42051" b="39487"/>
          <a:stretch>
            <a:fillRect/>
          </a:stretch>
        </p:blipFill>
        <p:spPr>
          <a:xfrm>
            <a:off x="657299" y="1690688"/>
            <a:ext cx="9720072" cy="4582096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Apache Spark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5218" y="3189632"/>
            <a:ext cx="4875540" cy="131771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84" y="3410916"/>
            <a:ext cx="4996280" cy="875145"/>
          </a:xfrm>
          <a:prstGeom prst="rect">
            <a:avLst/>
          </a:prstGeom>
        </p:spPr>
      </p:pic>
      <p:sp>
        <p:nvSpPr>
          <p:cNvPr id="15" name="Arrow: Right 14"/>
          <p:cNvSpPr/>
          <p:nvPr/>
        </p:nvSpPr>
        <p:spPr>
          <a:xfrm>
            <a:off x="6096000" y="3693470"/>
            <a:ext cx="757382" cy="4286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24128" y="4886036"/>
            <a:ext cx="801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ý: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nén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jdk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7683" y="1690688"/>
            <a:ext cx="83548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https://www.oracle.com/java/technologies/javase-downloads.html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825336" y="1921520"/>
            <a:ext cx="8541327" cy="4324922"/>
          </a:xfrm>
          <a:prstGeom prst="rect">
            <a:avLst/>
          </a:prstGeom>
        </p:spPr>
      </p:pic>
      <p:sp>
        <p:nvSpPr>
          <p:cNvPr id="6" name="Arrow: Left 5"/>
          <p:cNvSpPr/>
          <p:nvPr/>
        </p:nvSpPr>
        <p:spPr>
          <a:xfrm>
            <a:off x="5884164" y="4354261"/>
            <a:ext cx="1099127" cy="351387"/>
          </a:xfrm>
          <a:prstGeom prst="lef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/>
          <p:nvPr/>
        </p:nvPicPr>
        <p:blipFill>
          <a:blip r:embed="rId1"/>
          <a:stretch>
            <a:fillRect/>
          </a:stretch>
        </p:blipFill>
        <p:spPr>
          <a:xfrm>
            <a:off x="1825336" y="1920042"/>
            <a:ext cx="8541327" cy="43527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jdk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rrow: Right 2"/>
          <p:cNvSpPr/>
          <p:nvPr/>
        </p:nvSpPr>
        <p:spPr>
          <a:xfrm>
            <a:off x="6045200" y="5190837"/>
            <a:ext cx="1265382" cy="36945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jdk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912364" y="1858587"/>
            <a:ext cx="5943600" cy="4526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786909" y="5033819"/>
            <a:ext cx="1173018" cy="249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40581" y="4773169"/>
            <a:ext cx="1394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549236" y="5153891"/>
            <a:ext cx="96058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2912364" y="1858587"/>
            <a:ext cx="5943600" cy="45262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jdk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/>
          <p:nvPr/>
        </p:nvPicPr>
        <p:blipFill>
          <a:blip r:embed="rId1"/>
          <a:stretch>
            <a:fillRect/>
          </a:stretch>
        </p:blipFill>
        <p:spPr>
          <a:xfrm>
            <a:off x="5749636" y="746552"/>
            <a:ext cx="4994564" cy="5526232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749637" y="746552"/>
            <a:ext cx="4994563" cy="55262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3124200" y="2561907"/>
            <a:ext cx="5943600" cy="1734185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/>
          <a:stretch>
            <a:fillRect/>
          </a:stretch>
        </p:blipFill>
        <p:spPr>
          <a:xfrm>
            <a:off x="3865764" y="1495812"/>
            <a:ext cx="4460471" cy="4938308"/>
          </a:xfrm>
          <a:prstGeom prst="rect">
            <a:avLst/>
          </a:prstGeom>
        </p:spPr>
      </p:pic>
      <p:sp>
        <p:nvSpPr>
          <p:cNvPr id="10" name="Arrow: Right 9"/>
          <p:cNvSpPr/>
          <p:nvPr/>
        </p:nvSpPr>
        <p:spPr>
          <a:xfrm>
            <a:off x="2491508" y="5467928"/>
            <a:ext cx="1265382" cy="36945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/>
          <p:nvPr/>
        </p:nvPicPr>
        <p:blipFill>
          <a:blip r:embed="rId5"/>
          <a:stretch>
            <a:fillRect/>
          </a:stretch>
        </p:blipFill>
        <p:spPr>
          <a:xfrm>
            <a:off x="3865764" y="1495812"/>
            <a:ext cx="4460471" cy="49383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  <p:bldP spid="1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ele attr="{6A29C4F8-5AAD-459C-95D7-6C512C4D439B}"/>
                  </a:ext>
                </a:extLst>
              </p:cNvPr>
              <p:cNvSpPr/>
              <p:nvPr/>
            </p:nvSpPr>
            <p:spPr>
              <a:xfrm>
                <a:off x="1024128" y="1914298"/>
                <a:ext cx="469231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latin typeface="Times New Roman" panose="02020603050405020304" pitchFamily="18" charset="0"/>
                    <a:ea typeface="Yu Mincho" panose="02020400000000000000" pitchFamily="18" charset="-128"/>
                  </a:rPr>
                  <a:t>Command Prompt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Yu Mincho" panose="02020400000000000000" pitchFamily="18" charset="-128"/>
                      </a:rPr>
                      <m:t>→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ea typeface="Yu Mincho" panose="02020400000000000000" pitchFamily="18" charset="-128"/>
                  </a:rPr>
                  <a:t> pyspark.</a:t>
                </a:r>
                <a:endParaRPr lang="en-US" sz="2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8" y="1914298"/>
                <a:ext cx="4692310" cy="523220"/>
              </a:xfrm>
              <a:prstGeom prst="rect">
                <a:avLst/>
              </a:prstGeom>
              <a:blipFill rotWithShape="1">
                <a:blip r:embed="rId1"/>
                <a:stretch>
                  <a:fillRect l="-2597" t="-12791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24127" y="2623519"/>
            <a:ext cx="6521981" cy="3649265"/>
          </a:xfrm>
          <a:prstGeom prst="rect">
            <a:avLst/>
          </a:prstGeom>
        </p:spPr>
      </p:pic>
      <p:pic>
        <p:nvPicPr>
          <p:cNvPr id="1026" name="Picture 2" descr="5 Cách Đạt Được Nhiều Like Facebook Bằng WordPress - Diều Hâ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373" y="2803814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2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2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2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" fill="hold">
                          <p:stCondLst>
                            <p:cond delay="indefinite"/>
                          </p:stCondLst>
                          <p:childTnLst>
                            <p:par>
                              <p:cTn id="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6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8" dur="500" fill="hold"/>
                                            <p:tgtEl>
                                              <p:spTgt spid="10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10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2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2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2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" fill="hold">
                          <p:stCondLst>
                            <p:cond delay="indefinite"/>
                          </p:stCondLst>
                          <p:childTnLst>
                            <p:par>
                              <p:cTn id="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6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10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0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spark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juputer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87791" y="3429000"/>
            <a:ext cx="67927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2942" y="4207524"/>
            <a:ext cx="3362257" cy="439615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bin\spark-submit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Py - Free interface ic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084" y="34290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/>
          <p:cNvSpPr/>
          <p:nvPr/>
        </p:nvSpPr>
        <p:spPr>
          <a:xfrm>
            <a:off x="4887153" y="4342343"/>
            <a:ext cx="1318846" cy="37802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092454" y="2723367"/>
            <a:ext cx="4791710" cy="4191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410970" y="2513965"/>
            <a:ext cx="9370060" cy="13849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2034540" y="4448049"/>
            <a:ext cx="81229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appName</a:t>
            </a:r>
            <a:r>
              <a:rPr lang="en-US" sz="2800" dirty="0"/>
              <a:t>: </a:t>
            </a:r>
            <a:r>
              <a:rPr lang="en-US" sz="2800" dirty="0" err="1"/>
              <a:t>tên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thị</a:t>
            </a:r>
            <a:r>
              <a:rPr lang="en-US" sz="2800" dirty="0"/>
              <a:t> </a:t>
            </a:r>
            <a:r>
              <a:rPr lang="en-US" sz="2800" dirty="0" err="1"/>
              <a:t>trên</a:t>
            </a:r>
            <a:r>
              <a:rPr lang="en-US" sz="2800" dirty="0"/>
              <a:t> cluster UI.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master: URL </a:t>
            </a:r>
            <a:r>
              <a:rPr lang="en-US" sz="2800" dirty="0" err="1"/>
              <a:t>hoặc</a:t>
            </a:r>
            <a:r>
              <a:rPr lang="en-US" sz="2800" dirty="0"/>
              <a:t> “local[n]” </a:t>
            </a:r>
            <a:r>
              <a:rPr lang="en-US" sz="2800" dirty="0" err="1"/>
              <a:t>với</a:t>
            </a:r>
            <a:r>
              <a:rPr lang="en-US" sz="2800" dirty="0"/>
              <a:t> n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. 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10426192" cy="149961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Resilient distributed dataset (RDD)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Apache Spark Fundamentals (Part 2) - Lavish Jain - Mediu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014" y="2339926"/>
            <a:ext cx="7698297" cy="3969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487152" cy="4023360"/>
          </a:xfrm>
        </p:spPr>
        <p:txBody>
          <a:bodyPr>
            <a:norm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parallelize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SparkContext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344339" y="3675697"/>
            <a:ext cx="5503322" cy="12439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3060553" y="5581134"/>
            <a:ext cx="60708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</a:rPr>
              <a:t>distData.reduce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</a:rPr>
              <a:t>(lambda a, b: a + b).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495220" y="5057914"/>
            <a:ext cx="5544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distData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sc.parallelize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(data, 10)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Hadoop, bao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 file system, HDFS, Cassandra, HBase, Amazon S3,.... Spark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files,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SequenceFiles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Hadoop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InputFormat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495040" y="4114801"/>
            <a:ext cx="5201920" cy="7315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text,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SequenceFiles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827021" y="3708401"/>
            <a:ext cx="8537957" cy="18107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Hadoop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Input/Output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180591" y="3114993"/>
            <a:ext cx="9830817" cy="33163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RDDs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325528" y="4456430"/>
            <a:ext cx="7540943" cy="14058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Arrow: Left 4"/>
          <p:cNvSpPr/>
          <p:nvPr/>
        </p:nvSpPr>
        <p:spPr>
          <a:xfrm>
            <a:off x="8463280" y="4976495"/>
            <a:ext cx="1656080" cy="3657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Up 5"/>
          <p:cNvSpPr/>
          <p:nvPr/>
        </p:nvSpPr>
        <p:spPr>
          <a:xfrm>
            <a:off x="6289040" y="5818632"/>
            <a:ext cx="384556" cy="43688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143522" y="4976495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775035" y="6258933"/>
            <a:ext cx="1412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7565" y="2631440"/>
            <a:ext cx="9238995" cy="32105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expressions,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def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Spark,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top-level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mo-đun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1024128" y="2943860"/>
            <a:ext cx="4553585" cy="2514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6231572" y="2214245"/>
            <a:ext cx="3848100" cy="17430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6231572" y="4448049"/>
            <a:ext cx="5563235" cy="17430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203960" y="2084832"/>
            <a:ext cx="5776913" cy="41879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Arrow: Right 4"/>
          <p:cNvSpPr/>
          <p:nvPr/>
        </p:nvSpPr>
        <p:spPr>
          <a:xfrm>
            <a:off x="7416800" y="3703320"/>
            <a:ext cx="1198880" cy="721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919527" y="3708400"/>
            <a:ext cx="233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Accumulator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RDD: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 descr="Apache Spark Fundamentals (Part 2) - Lavish Jain - Mediu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014" y="2339926"/>
            <a:ext cx="7698297" cy="3969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248" y="1790192"/>
            <a:ext cx="3883152" cy="589280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rdd.foreach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7191248" y="1790192"/>
            <a:ext cx="3883152" cy="5892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43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31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45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025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71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rdd.foreach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/>
          <p:nvPr/>
        </p:nvSpPr>
        <p:spPr>
          <a:xfrm>
            <a:off x="7191248" y="1802384"/>
            <a:ext cx="3883152" cy="5892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43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31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45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025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71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rdd.foreach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7201408" y="1790192"/>
            <a:ext cx="3883152" cy="5892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43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31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45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025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71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rdd.foreach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3.7037E-6 L -0.53659 0.6400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836" y="3199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3.7037E-6 L -0.27748 0.6458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80" y="3229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07407E-6 L -0.42084 0.6430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42" y="3215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3.7037E-6 L -0.14492 0.6458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53" y="32292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5" grpId="0" build="p"/>
      <p:bldP spid="5" grpId="1" build="p"/>
      <p:bldP spid="7" grpId="0" build="p"/>
      <p:bldP spid="7" grpId="1" build="p"/>
      <p:bldP spid="8" grpId="0" build="p"/>
      <p:bldP spid="8" grpI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RDD: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834640"/>
            <a:ext cx="972007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collect()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RDD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rồi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rdd.collect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().foreach(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7" y="4774223"/>
            <a:ext cx="97200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collect()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take(n)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cặp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key-value: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877473" y="4412308"/>
            <a:ext cx="8013382" cy="20742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1024128" y="2171115"/>
            <a:ext cx="1000963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</a:t>
            </a:r>
            <a:endParaRPr lang="en-US" sz="3200" dirty="0"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ea typeface="Yu Mincho" panose="02020400000000000000" pitchFamily="18" charset="-128"/>
            </a:endParaRPr>
          </a:p>
          <a:p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</a:rPr>
              <a:t> Python,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</a:rPr>
              <a:t>những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</a:rPr>
              <a:t>thao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</a:rPr>
              <a:t>tác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</a:rPr>
              <a:t> RDDs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</a:rPr>
              <a:t>chứa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</a:rPr>
              <a:t> tuples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</a:rPr>
              <a:t> Python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 rotWithShape="1">
          <a:blip r:embed="rId1"/>
          <a:srcRect r="-428" b="29856"/>
          <a:stretch>
            <a:fillRect/>
          </a:stretch>
        </p:blipFill>
        <p:spPr>
          <a:xfrm>
            <a:off x="2245360" y="1783715"/>
            <a:ext cx="7701280" cy="48101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842260" y="1754759"/>
            <a:ext cx="6507480" cy="484924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RDD Persistence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1971040"/>
            <a:ext cx="97200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RDD Persistence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suốt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24128" y="3896454"/>
            <a:ext cx="9968992" cy="1481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Ta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phương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persist() </a:t>
            </a:r>
            <a:r>
              <a:rPr lang="en-US" sz="32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cache().</a:t>
            </a:r>
            <a:endParaRPr lang="en-US" sz="3200" dirty="0"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RDD Persistence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724660" y="1876742"/>
            <a:ext cx="8742680" cy="46358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RDD Persistence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3400" y="1881632"/>
            <a:ext cx="11125200" cy="4653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Nếu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RDDs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khớp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vừa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vặn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với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cập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độ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lưu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trữ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mặc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đinh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(MEMORY_ONLY),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thì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cứ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nó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như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vậy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Đây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lựa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tối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ưu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nhất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CPU,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phép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thao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tác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trên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RDDs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chạy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nhanh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nhất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Nếu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hãy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thử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MEMORY_ONLY_SER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thư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viện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tuần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tự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hoá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nhanh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tăng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hiệu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quả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gian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lưu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trữ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lên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nhưng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vẫn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truy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cập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nhanh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chóng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Đừng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tràn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ra ổ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đĩa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trừ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khi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hàm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toán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tập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ta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rất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tiêu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tốn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tài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nguyên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hoặc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chúng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lọc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ra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lượng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lớn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Mặt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khác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việc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toán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lại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cũng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nhanh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như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việc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đọc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nó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từ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ổ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đĩa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Hãy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sử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dụng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cấp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độ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lưu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trữ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nhân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rộng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nếu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bạn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muốn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phục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hồi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lỗi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nhanh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Mỗi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cấp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độ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lưu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trữ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đều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toán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lại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nếu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sai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sót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nhưng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cấp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độ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nhân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rộng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sẽ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phép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ta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tiếp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tục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tác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vụ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trên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RDD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mà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cần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phải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đợi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quá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trình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toán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lại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phân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vùng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mất</a:t>
            </a:r>
            <a:r>
              <a:rPr lang="en-US" sz="2000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519680"/>
            <a:ext cx="972007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đệm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least-recently-used (LRU)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RDD.unpersist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broadcast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broadcast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chỉ-đọc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259623" y="4104542"/>
            <a:ext cx="7243103" cy="19709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Accumulators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3147646"/>
            <a:ext cx="9720072" cy="186396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Accumulators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Accumulators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ccumulators in the Spark UI"/>
          <p:cNvPicPr>
            <a:picLocks noGrp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838" y="2329749"/>
            <a:ext cx="9438324" cy="4035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834640"/>
            <a:ext cx="9720071" cy="4023360"/>
          </a:xfrm>
        </p:spPr>
        <p:txBody>
          <a:bodyPr>
            <a:norm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accumulator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Accumulators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30774" y="2377807"/>
            <a:ext cx="6906589" cy="38391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255" y="585470"/>
            <a:ext cx="9719945" cy="4309745"/>
          </a:xfrm>
        </p:spPr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spark sql, datasets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and dataframe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255" y="5549265"/>
            <a:ext cx="9719945" cy="760095"/>
          </a:xfrm>
        </p:spPr>
        <p:txBody>
          <a:bodyPr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803" y="585216"/>
            <a:ext cx="9720072" cy="1499616"/>
          </a:xfrm>
        </p:spPr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getting start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72590" y="3293745"/>
            <a:ext cx="8634095" cy="255143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Box 6"/>
          <p:cNvSpPr txBox="1"/>
          <p:nvPr/>
        </p:nvSpPr>
        <p:spPr>
          <a:xfrm>
            <a:off x="1115060" y="2085340"/>
            <a:ext cx="7312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1.Start point:SparkSession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803" y="585216"/>
            <a:ext cx="9720072" cy="1499616"/>
          </a:xfrm>
        </p:spPr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getting start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99820" y="2085340"/>
            <a:ext cx="7312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 Create DataFrame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45260" y="2705100"/>
            <a:ext cx="7668260" cy="27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803" y="585216"/>
            <a:ext cx="9720072" cy="1499616"/>
          </a:xfrm>
        </p:spPr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getting start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63930" y="2085340"/>
            <a:ext cx="7312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3.Untyped Dataset Operations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3930" y="2545715"/>
            <a:ext cx="7588885" cy="397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803" y="585216"/>
            <a:ext cx="9720072" cy="1499616"/>
          </a:xfrm>
        </p:spPr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getting start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63930" y="2085340"/>
            <a:ext cx="7312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4.Running SQL Queries Programmatically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87830" y="3039745"/>
            <a:ext cx="6820535" cy="2952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getting start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63930" y="2085340"/>
            <a:ext cx="7312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5.Inferring the Schema Using Reflection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6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192655" y="2545715"/>
            <a:ext cx="7065010" cy="358584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/>
          <p:cNvSpPr/>
          <p:nvPr>
            <p:ph sz="half" idx="1"/>
          </p:nvPr>
        </p:nvSpPr>
        <p:spPr>
          <a:xfrm>
            <a:off x="1024255" y="2286000"/>
            <a:ext cx="76200" cy="4023360"/>
          </a:xfrm>
        </p:spPr>
        <p:txBody>
          <a:bodyPr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getting start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24255" y="2085340"/>
            <a:ext cx="7312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6.Programmatically Specifying the Schema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96265" y="2545715"/>
            <a:ext cx="9995535" cy="3985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source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24255" y="2085340"/>
            <a:ext cx="7312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1.Generic Load/Save Functions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9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280160" y="2542540"/>
            <a:ext cx="5192395" cy="1162050"/>
          </a:xfrm>
          <a:prstGeom prst="round1Rect">
            <a:avLst/>
          </a:prstGeom>
          <a:noFill/>
          <a:ln>
            <a:noFill/>
          </a:ln>
        </p:spPr>
      </p:pic>
      <p:pic>
        <p:nvPicPr>
          <p:cNvPr id="10" name="Picture 10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39715" y="3795395"/>
            <a:ext cx="5237480" cy="1204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5107305"/>
            <a:ext cx="5272405" cy="1223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source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24255" y="2085340"/>
            <a:ext cx="7312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Run SQL on files directlys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60780" y="2964180"/>
            <a:ext cx="7406640" cy="1715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source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24255" y="2085340"/>
            <a:ext cx="73120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Saving to Persistent Tables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Bucketing, Sorting and Partitioning</a:t>
            </a:r>
            <a:b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37310" y="3309620"/>
            <a:ext cx="5646420" cy="904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source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24255" y="2085340"/>
            <a:ext cx="73120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2.Parquet Files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Loading Data Programmatically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75715" y="2915285"/>
            <a:ext cx="7995285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source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24255" y="2085340"/>
            <a:ext cx="73120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2.Parquet Files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Partition Discovery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8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296670" y="2915285"/>
            <a:ext cx="6612890" cy="1461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9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6670" y="4559935"/>
            <a:ext cx="6612890" cy="1090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source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24255" y="2085340"/>
            <a:ext cx="73120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2.Parquet Files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Schema Merging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2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2850" y="2915285"/>
            <a:ext cx="9252585" cy="394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source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24255" y="2085340"/>
            <a:ext cx="73120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2.Parquet Files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Hive metastore Parquet table conversion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Hive/Parquet Schema Reconciliation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Metadata Refreshing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65885" y="3794760"/>
            <a:ext cx="7449185" cy="983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Hive Tables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586740" y="1697355"/>
            <a:ext cx="5192395" cy="454152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79135" y="1697355"/>
            <a:ext cx="5342890" cy="454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Hive Tables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6016625"/>
            <a:ext cx="4754880" cy="292735"/>
          </a:xfrm>
        </p:spPr>
        <p:txBody>
          <a:bodyPr>
            <a:normAutofit fontScale="40000"/>
          </a:bodyPr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75665" y="1811655"/>
            <a:ext cx="832421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Specifying storage format for Hive tabless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Interacting with Different Versions of Hive Metastore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/>
          <p:nvPr>
            <p:ph sz="half" idx="1"/>
          </p:nvPr>
        </p:nvSpPr>
        <p:spPr/>
        <p:txBody>
          <a:bodyPr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anothers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255" y="5760720"/>
            <a:ext cx="4754880" cy="548640"/>
          </a:xfrm>
        </p:spPr>
        <p:txBody>
          <a:bodyPr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6123305"/>
            <a:ext cx="4754880" cy="186055"/>
          </a:xfrm>
        </p:spPr>
        <p:txBody>
          <a:bodyPr>
            <a:normAutofit fontScale="25000"/>
          </a:bodyPr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20750" y="2113915"/>
            <a:ext cx="791654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JDBC To Other Databases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Apache Avro Data Source Guide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Troubleshooting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Tuning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255" y="5972175"/>
            <a:ext cx="4754880" cy="337185"/>
          </a:xfrm>
        </p:spPr>
        <p:txBody>
          <a:bodyPr>
            <a:normAutofit fontScale="60000"/>
          </a:bodyPr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6092825"/>
            <a:ext cx="4754880" cy="216535"/>
          </a:xfrm>
        </p:spPr>
        <p:txBody>
          <a:bodyPr>
            <a:normAutofit fontScale="25000"/>
          </a:bodyPr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47445" y="2053590"/>
            <a:ext cx="88684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Bộ nhớ đệm dữ liệu trong bộ nhớ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Tùy chọn cấu hình khác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Broadcast Hint for SQL Queries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SQL Engine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29945" y="1842135"/>
            <a:ext cx="9895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1.Running the Thrift JDBC/ODBC serve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9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024255" y="2210435"/>
            <a:ext cx="4497705" cy="1224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Picture 40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545715" y="3691890"/>
            <a:ext cx="8044180" cy="1619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SQL Engine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/>
          <p:nvPr>
            <p:ph sz="half" idx="2"/>
          </p:nvPr>
        </p:nvSpPr>
        <p:spPr/>
        <p:txBody>
          <a:bodyPr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130300" y="2043430"/>
            <a:ext cx="8682355" cy="348107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SQL Engine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/>
          <p:nvPr>
            <p:ph sz="half" idx="1"/>
          </p:nvPr>
        </p:nvSpPr>
        <p:spPr>
          <a:xfrm>
            <a:off x="1024255" y="4204970"/>
            <a:ext cx="4754880" cy="2104390"/>
          </a:xfrm>
        </p:spPr>
        <p:txBody>
          <a:bodyPr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238250" y="1932305"/>
            <a:ext cx="7342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2.Running the Spark SQL CL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Picture 46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238250" y="2624455"/>
            <a:ext cx="6139180" cy="139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Apache Arrow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255" y="4642485"/>
            <a:ext cx="4754880" cy="1666875"/>
          </a:xfrm>
        </p:spPr>
        <p:txBody>
          <a:bodyPr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4234815"/>
            <a:ext cx="4754880" cy="2074545"/>
          </a:xfrm>
        </p:spPr>
        <p:txBody>
          <a:bodyPr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47445" y="1600200"/>
            <a:ext cx="654177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1.Apache Arrow in Spark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2.Ensure PyArrow Installed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3.Enabling for Conversion to/from Pandas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4.Pandas UDFs 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5.Scalar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6.Grouped Map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7.Grouped Aggregate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0214" y="214244"/>
            <a:ext cx="7776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Structured Streaming Programming Guide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214" y="2107862"/>
            <a:ext cx="8421999" cy="366933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ream as a Tab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95" y="892312"/>
            <a:ext cx="11088210" cy="596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10214" y="214244"/>
            <a:ext cx="7776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Structured Streaming Programming Guide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0214" y="214244"/>
            <a:ext cx="7776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Structured Streaming Programming Guide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052" name="Picture 4" descr="Model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1" y="657537"/>
            <a:ext cx="10394957" cy="620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chemeClr val="accent1">
                    <a:lumMod val="50000"/>
                  </a:schemeClr>
                </a:solidFill>
                <a:effectLst/>
                <a:latin typeface="Helvetica Neue"/>
              </a:rPr>
              <a:t>Creating streaming </a:t>
            </a:r>
            <a:r>
              <a:rPr lang="en-US" sz="2800" b="1" i="0" dirty="0" err="1">
                <a:solidFill>
                  <a:schemeClr val="accent1">
                    <a:lumMod val="50000"/>
                  </a:schemeClr>
                </a:solidFill>
                <a:effectLst/>
                <a:latin typeface="Helvetica Neue"/>
              </a:rPr>
              <a:t>DataFrames</a:t>
            </a:r>
            <a:r>
              <a:rPr lang="en-US" sz="2800" b="1" i="0" dirty="0">
                <a:solidFill>
                  <a:schemeClr val="accent1">
                    <a:lumMod val="50000"/>
                  </a:schemeClr>
                </a:solidFill>
                <a:effectLst/>
                <a:latin typeface="Helvetica Neue"/>
              </a:rPr>
              <a:t> and streaming Datasets</a:t>
            </a:r>
            <a:endParaRPr lang="en-US" sz="2800" b="1" i="0" dirty="0">
              <a:solidFill>
                <a:schemeClr val="accent1">
                  <a:lumMod val="50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4568" y="2241157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>
                <a:solidFill>
                  <a:srgbClr val="1D1F22"/>
                </a:solidFill>
                <a:effectLst/>
                <a:latin typeface="Helvetica Neue"/>
              </a:rPr>
              <a:t>File source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14568" y="3046073"/>
            <a:ext cx="1633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>
                <a:solidFill>
                  <a:srgbClr val="1D1F22"/>
                </a:solidFill>
                <a:effectLst/>
                <a:latin typeface="Helvetica Neue"/>
              </a:rPr>
              <a:t>Kafka source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14568" y="3850989"/>
            <a:ext cx="3172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>
                <a:solidFill>
                  <a:srgbClr val="1D1F22"/>
                </a:solidFill>
                <a:effectLst/>
                <a:latin typeface="Helvetica Neue"/>
              </a:rPr>
              <a:t>Socket source (for testing)</a:t>
            </a:r>
            <a:r>
              <a:rPr lang="en-US" b="0" i="0" dirty="0">
                <a:solidFill>
                  <a:srgbClr val="1D1F22"/>
                </a:solidFill>
                <a:effectLst/>
                <a:latin typeface="Helvetica Neue"/>
              </a:rPr>
              <a:t> 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14568" y="4655905"/>
            <a:ext cx="28520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>
                <a:solidFill>
                  <a:srgbClr val="1D1F22"/>
                </a:solidFill>
                <a:effectLst/>
                <a:latin typeface="Helvetica Neue"/>
              </a:rPr>
              <a:t>Rate source (for testing)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7882" y="1106317"/>
            <a:ext cx="782955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987" y="1589362"/>
            <a:ext cx="9839325" cy="21240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Basic Operations - Selection, Projection, Aggregation</a:t>
            </a:r>
            <a:endParaRPr lang="en-US" sz="2800" b="1" i="0" dirty="0">
              <a:solidFill>
                <a:schemeClr val="accent1">
                  <a:lumMod val="50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87" y="4183481"/>
            <a:ext cx="6943725" cy="619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87" y="5288311"/>
            <a:ext cx="61531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Window Operations on Event Time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  <p:pic>
        <p:nvPicPr>
          <p:cNvPr id="3074" name="Picture 2" descr="Window Operation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3060"/>
            <a:ext cx="11097087" cy="5706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124200" y="2166620"/>
            <a:ext cx="5943600" cy="25247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Window Operations on Event Time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832" y="809691"/>
            <a:ext cx="8556335" cy="5909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Window Operations on Event Time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1489550" y="2066857"/>
            <a:ext cx="9064809" cy="27242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Join Operations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892" y="1200444"/>
            <a:ext cx="9500216" cy="520035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Join Operations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144" y="1779373"/>
            <a:ext cx="10117712" cy="329925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Join Operations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2186" y="998852"/>
            <a:ext cx="6593534" cy="556258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Join Operations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305" y="1979382"/>
            <a:ext cx="9025261" cy="360128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Streaming Deduplication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654" y="2151029"/>
            <a:ext cx="8830656" cy="31374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Policy for handling multiple watermarks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5057" y="1129939"/>
            <a:ext cx="8705850" cy="52768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Starting Streaming Queries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337" y="1803956"/>
            <a:ext cx="10601325" cy="43624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Starting Streaming Queries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0862" y="1296725"/>
            <a:ext cx="6010275" cy="1266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074" y="2981864"/>
            <a:ext cx="6419850" cy="35337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Starting Streaming Queries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987" y="1068419"/>
            <a:ext cx="7058025" cy="53244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Starting Streaming Queries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Managing Streaming Queries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699" y="1081335"/>
            <a:ext cx="10700602" cy="529805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8482" y="2528887"/>
            <a:ext cx="7239000" cy="18002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Managing Streaming Queries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1271716"/>
            <a:ext cx="9867900" cy="5105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Managing Streaming Queries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6575" y="3174524"/>
            <a:ext cx="6038850" cy="904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Reporting Metrics using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Dropwizard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2203" y="2633662"/>
            <a:ext cx="6429375" cy="15906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Recovering from Failures with Checkpointing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8116" y="1481413"/>
            <a:ext cx="10281500" cy="41363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Kể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từ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Spark 2.4,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chỉ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loại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truy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vấn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sau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được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hỗ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trợ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trong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chế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độ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xử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lý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liên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tục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Operations: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Chỉ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thao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tác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Dataset /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DataFrame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map-like được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hỗ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trợ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trong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chế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độ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liên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tục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nghĩa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chỉ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phép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chiếu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(select, map,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FlatMap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mapPartitions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, v.v.)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và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lựa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trong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đó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bộ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lọc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, v.v.).</a:t>
            </a:r>
            <a:endParaRPr lang="en-US" sz="1600" dirty="0">
              <a:effectLst/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Tất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cả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hàm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SQL được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hỗ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trợ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ngoại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trừ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hàm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tổng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hợp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vì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tập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hợp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chưa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được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hỗ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trợ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),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current_timestamp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()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và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current_date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().</a:t>
            </a:r>
            <a:endParaRPr lang="en-US" sz="1600" dirty="0">
              <a:effectLst/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Sources:</a:t>
            </a:r>
            <a:endParaRPr lang="en-US" sz="1600" dirty="0">
              <a:effectLst/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Nguồn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Kafka: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Tất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cả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tùy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được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hỗ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trợ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Nguồn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Rate: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Tốt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để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thử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nghiệm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Chỉ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tùy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được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hỗ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trợ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trong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chế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độ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liên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tục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là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numPartitions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và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rowsPerSecond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Sinks:</a:t>
            </a:r>
            <a:endParaRPr lang="en-US" sz="1600" dirty="0">
              <a:effectLst/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Kafka sink: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Tất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cả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tùy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được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hỗ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trợ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Memory sink: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Tốt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gỡ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lỗi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Console sink: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Tốt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gỡ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lỗi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Tất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cả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tùy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được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hỗ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trợ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Lưu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ý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rằng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bảng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điều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khiển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sẽ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in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mọi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khoảng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thời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gian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điểm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tra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mà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bạn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đã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chỉ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định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trong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trình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kích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hoạt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liên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tục</a:t>
            </a:r>
            <a:r>
              <a:rPr lang="en-US" sz="16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Supported Queries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12332" y="1713488"/>
            <a:ext cx="8311299" cy="35708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cụ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tục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khởi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chạy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nhiều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vụ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chạy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dài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tục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đọc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nó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tục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ghi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chìm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vụ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yêu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cầu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truy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vấn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tùy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vùng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truy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vấn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đọc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song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song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 Do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trước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bắt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truy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vấn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tục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đảm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đủ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lõi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cụm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tất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cả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vụ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song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song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Ví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dụ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đang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đọc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chủ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Kafka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10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vùng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cụm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ít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10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lõi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truy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vấn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tiến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Dừng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luồng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tục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tạo ra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cảnh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báo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chấm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dứt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nhiệm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vụ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giả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được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bỏ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qua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an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toàn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thử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nhiệm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vụ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thất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bại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Bất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thất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bại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dẫn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truy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vấn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dừng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nó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được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khởi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thủ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0987" y="138899"/>
            <a:ext cx="10453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 Neue"/>
              </a:rPr>
              <a:t>Note: 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255" y="585470"/>
            <a:ext cx="9719945" cy="4172585"/>
          </a:xfrm>
        </p:spPr>
        <p:txBody>
          <a:bodyPr>
            <a:normAutofit/>
          </a:bodyPr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Spark Streaming Programming Guide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255" y="5110480"/>
            <a:ext cx="9719945" cy="1198880"/>
          </a:xfrm>
        </p:spPr>
        <p:txBody>
          <a:bodyPr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Picture 52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234440" y="1642745"/>
            <a:ext cx="7473315" cy="229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Picture 5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43685" y="4301490"/>
            <a:ext cx="6854825" cy="1985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62685" y="1721485"/>
            <a:ext cx="5484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1.Linking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553210" y="2301240"/>
            <a:ext cx="6763385" cy="1974215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23390" y="4275455"/>
            <a:ext cx="6423025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47445" y="1932940"/>
            <a:ext cx="5484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2.Initializing StreamingContext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/>
          <p:nvPr>
            <p:ph sz="half" idx="2"/>
          </p:nvPr>
        </p:nvSpPr>
        <p:spPr/>
        <p:txBody>
          <a:bodyPr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6" name="Picture 66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024255" y="2969895"/>
            <a:ext cx="8576945" cy="1852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47445" y="1932940"/>
            <a:ext cx="5484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3.Discretized Streams 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" name="Picture 67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024255" y="2638425"/>
            <a:ext cx="7595235" cy="144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Picture 68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76350" y="4338955"/>
            <a:ext cx="6974205" cy="1850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47445" y="1932940"/>
            <a:ext cx="548449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4.Input DStreams and Receivers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5.File Streams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6.Streams based on Custom Receivers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7.Queue of RDDs as a Stream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8.Advanced Sources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9.UpdateStateByKey Operation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47445" y="1887855"/>
            <a:ext cx="548449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10.Transform Operation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Picture 7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23620" y="2531110"/>
            <a:ext cx="9231630" cy="1764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47445" y="1887855"/>
            <a:ext cx="548449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11.Window Operations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4" name="Picture 7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234440" y="2265680"/>
            <a:ext cx="4754880" cy="1929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Picture 7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34440" y="4324985"/>
            <a:ext cx="8124190" cy="106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47445" y="1887855"/>
            <a:ext cx="548449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12.Join Operations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6" name="Picture 76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147445" y="2574290"/>
            <a:ext cx="7987665" cy="740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Picture 77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48080" y="3608070"/>
            <a:ext cx="7986395" cy="80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45" y="4722495"/>
            <a:ext cx="7987665" cy="7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024255" y="1631315"/>
            <a:ext cx="548449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13.Output Operations on DStreams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14.Các mẫu thiết kế để sử dụng foreachRDD 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15.DataFrame and SQL Operations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" name="Picture 8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65880" y="3855085"/>
            <a:ext cx="7934325" cy="2259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47445" y="1887855"/>
            <a:ext cx="548449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16.MLlib Operationss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17.Caching / Persistence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18.Checkpointing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4" name="Picture 8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47445" y="3448050"/>
            <a:ext cx="8953500" cy="2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69976"/>
            <a:ext cx="9720072" cy="1499616"/>
          </a:xfrm>
        </p:spPr>
        <p:txBody>
          <a:bodyPr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47445" y="1887855"/>
            <a:ext cx="548449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19.Accumulators, Broadcast Variables, and Checkpoints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5" name="Picture 8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03020" y="2724150"/>
            <a:ext cx="8766175" cy="402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Basic Concepts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45820" y="1859915"/>
            <a:ext cx="906462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20.Deploying Applications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21.Upgrading Application Code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22.Monitoring Applications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23.Performance Tuning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24.Reducing the Batch Processing Times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25.Level of Parallelism in Data Receiving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6" name="Picture 8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26515" y="5176520"/>
            <a:ext cx="7905750" cy="899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Basic Concepts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47395" y="1588135"/>
            <a:ext cx="906462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26.Level of Parallelism in Data Processing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27.Data Serialization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28.Memory Tuning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29.Background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30.Definitions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31.Basic Semantics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32.Semantics of output operations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9175</Words>
  <Application>WPS Presentation</Application>
  <PresentationFormat>Widescreen</PresentationFormat>
  <Paragraphs>486</Paragraphs>
  <Slides>97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97</vt:i4>
      </vt:variant>
    </vt:vector>
  </HeadingPairs>
  <TitlesOfParts>
    <vt:vector size="118" baseType="lpstr">
      <vt:lpstr>Arial</vt:lpstr>
      <vt:lpstr>SimSun</vt:lpstr>
      <vt:lpstr>Wingdings</vt:lpstr>
      <vt:lpstr>Tw Cen MT</vt:lpstr>
      <vt:lpstr>Wingdings 3</vt:lpstr>
      <vt:lpstr>Times New Roman</vt:lpstr>
      <vt:lpstr>Yu Mincho</vt:lpstr>
      <vt:lpstr>Yu Gothic UI Semilight</vt:lpstr>
      <vt:lpstr>Tw Cen MT Condensed</vt:lpstr>
      <vt:lpstr>Segoe Print</vt:lpstr>
      <vt:lpstr>Microsoft YaHei</vt:lpstr>
      <vt:lpstr>Arial Unicode MS</vt:lpstr>
      <vt:lpstr>Calibri</vt:lpstr>
      <vt:lpstr>Symbol</vt:lpstr>
      <vt:lpstr>Helvetica Neue</vt:lpstr>
      <vt:lpstr>Courier New</vt:lpstr>
      <vt:lpstr>Symbol</vt:lpstr>
      <vt:lpstr>Helvetica Neue</vt:lpstr>
      <vt:lpstr>Yu Mincho</vt:lpstr>
      <vt:lpstr>Thanhoa</vt:lpstr>
      <vt:lpstr>Integral</vt:lpstr>
      <vt:lpstr>PowerPoint 演示文稿</vt:lpstr>
      <vt:lpstr>Cài đặt Apache Spark</vt:lpstr>
      <vt:lpstr>Cài đặt Apache Spark</vt:lpstr>
      <vt:lpstr>Cài đặt Apache Spark</vt:lpstr>
      <vt:lpstr>Cài dặt jdk</vt:lpstr>
      <vt:lpstr>Cài dặt jdk</vt:lpstr>
      <vt:lpstr>Cài dặt jdk</vt:lpstr>
      <vt:lpstr>Cài dặt jdk</vt:lpstr>
      <vt:lpstr>Cài đặt biến môi trường</vt:lpstr>
      <vt:lpstr>Chạy thử pyspark</vt:lpstr>
      <vt:lpstr>Cài đặt spark trên juputer notebook</vt:lpstr>
      <vt:lpstr>Liên kết với Spark</vt:lpstr>
      <vt:lpstr>Khởi tạo Spark</vt:lpstr>
      <vt:lpstr>Resilient distributed dataset (RDD)</vt:lpstr>
      <vt:lpstr>Chia luồng dữ liệu</vt:lpstr>
      <vt:lpstr>Dữ liệu bên ngoài</vt:lpstr>
      <vt:lpstr>Dữ liệu bên ngoài</vt:lpstr>
      <vt:lpstr>Dữ liệu bên ngoài</vt:lpstr>
      <vt:lpstr>Thao tác trên Rdd</vt:lpstr>
      <vt:lpstr>Truyền hàm vào spark</vt:lpstr>
      <vt:lpstr>Truyền hàm vào spark</vt:lpstr>
      <vt:lpstr>Bao đóng</vt:lpstr>
      <vt:lpstr>In ra các thành phần của 1 RDD:</vt:lpstr>
      <vt:lpstr>In ra các thành phần của 1 RDD:</vt:lpstr>
      <vt:lpstr>Làm việc với các cặp key-value:</vt:lpstr>
      <vt:lpstr>Một số hàm biến đổi</vt:lpstr>
      <vt:lpstr>Một số hàm thực thi</vt:lpstr>
      <vt:lpstr>RDD Persistence</vt:lpstr>
      <vt:lpstr>RDD Persistence</vt:lpstr>
      <vt:lpstr>RDD Persistence</vt:lpstr>
      <vt:lpstr>Loại bỏ dữ liệu</vt:lpstr>
      <vt:lpstr>biến broadcast</vt:lpstr>
      <vt:lpstr>Accumulators</vt:lpstr>
      <vt:lpstr>Accumulators</vt:lpstr>
      <vt:lpstr>Accumulators</vt:lpstr>
      <vt:lpstr>Accumulators</vt:lpstr>
      <vt:lpstr>spark sql, datasets  and dataframe</vt:lpstr>
      <vt:lpstr>getting start</vt:lpstr>
      <vt:lpstr>getting start</vt:lpstr>
      <vt:lpstr>getting start</vt:lpstr>
      <vt:lpstr>getting start</vt:lpstr>
      <vt:lpstr>getting start</vt:lpstr>
      <vt:lpstr>getting start</vt:lpstr>
      <vt:lpstr>data source </vt:lpstr>
      <vt:lpstr>data source </vt:lpstr>
      <vt:lpstr>data source </vt:lpstr>
      <vt:lpstr>data source </vt:lpstr>
      <vt:lpstr>data source </vt:lpstr>
      <vt:lpstr>data source </vt:lpstr>
      <vt:lpstr>data source </vt:lpstr>
      <vt:lpstr>Hive Tables</vt:lpstr>
      <vt:lpstr>Hive Tables </vt:lpstr>
      <vt:lpstr>anothers</vt:lpstr>
      <vt:lpstr>Performance Tuning</vt:lpstr>
      <vt:lpstr>Distributed SQL Engine</vt:lpstr>
      <vt:lpstr>Distributed SQL Engine</vt:lpstr>
      <vt:lpstr>Distributed SQL Engine</vt:lpstr>
      <vt:lpstr>Apache Arrow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Basic Concepts</vt:lpstr>
      <vt:lpstr>Basic Concepts</vt:lpstr>
      <vt:lpstr>Basic Concepts</vt:lpstr>
      <vt:lpstr>Basic Concepts</vt:lpstr>
      <vt:lpstr>Basic Concepts</vt:lpstr>
      <vt:lpstr>Basic Concepts</vt:lpstr>
      <vt:lpstr>Basic Concepts</vt:lpstr>
      <vt:lpstr>Basic Concepts</vt:lpstr>
      <vt:lpstr>Basic Concepts</vt:lpstr>
      <vt:lpstr>PowerPoint 演示文稿</vt:lpstr>
      <vt:lpstr>Basic Concepts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LƯƠNG BỘI SƯƠNG</dc:creator>
  <cp:lastModifiedBy>DELL</cp:lastModifiedBy>
  <cp:revision>35</cp:revision>
  <dcterms:created xsi:type="dcterms:W3CDTF">2020-06-08T11:58:00Z</dcterms:created>
  <dcterms:modified xsi:type="dcterms:W3CDTF">2020-06-10T15:48:57Z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1033-11.2.0.9396</vt:lpwstr>
  </property>
</Properties>
</file>